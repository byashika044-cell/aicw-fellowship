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395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rulshukla2026/Parul-s-AI-Women-Project-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0E4D6B"/>
          </a:solidFill>
          <a:ln w="12700">
            <a:solidFill>
              <a:srgbClr val="0B3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" y="100584"/>
            <a:ext cx="25603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00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548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9520" y="2468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CAREERS FOR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89611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7432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FELLOWSHIP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4114800" cy="2834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47672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S E N T A T I O N   2 0 2 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3225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WORKLOAD &amp; TIME ALLOCATION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ASSISTANT: AI-POWERED ACADEMIC RECORDS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COURSE ACTIVITY TRACKER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55264"/>
            <a:ext cx="46634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46704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Name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3520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Maheswari 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74520" y="3346704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 Name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874520" y="3520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Yashika Bhardwaj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334670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Email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3520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yashika044@gmail.com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1" name="Text GH Label"/>
          <p:cNvSpPr/>
          <p:nvPr/>
        </p:nvSpPr>
        <p:spPr>
          <a:xfrm>
            <a:off x="274320" y="3790000"/>
            <a:ext cx="4663440" cy="15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0C040"/>
                </a:solidFill>
                <a:latin typeface="Calibri" pitchFamily="34" charset="0"/>
              </a:rPr>
              <a:t>💻  GitHub Repository</a:t>
            </a:r>
            <a:endParaRPr lang="en-US" sz="700" dirty="0"/>
          </a:p>
        </p:txBody>
      </p:sp>
      <p:sp>
        <p:nvSpPr>
          <p:cNvPr id="42" name="Text GH URL"/>
          <p:cNvSpPr/>
          <p:nvPr/>
        </p:nvSpPr>
        <p:spPr>
          <a:xfrm>
            <a:off x="274320" y="3945000"/>
            <a:ext cx="4663440" cy="210000"/>
          </a:xfrm>
          <a:prstGeom prst="rect">
            <a:avLst/>
          </a:prstGeom>
          <a:solidFill>
            <a:srgbClr val="C9A84C">
              <a:alpha val="25000"/>
            </a:srgbClr>
          </a:solidFill>
          <a:ln w="9525">
            <a:solidFill>
              <a:srgbClr val="F0C040"/>
            </a:solidFill>
            <a:prstDash val="solid"/>
          </a:ln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</a:rPr>
              <a:t>github.com/byashika044-cell/AICW-FELLOWSHIP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0" y="4133088"/>
            <a:ext cx="1828800" cy="0"/>
          </a:xfrm>
          <a:prstGeom prst="line">
            <a:avLst/>
          </a:prstGeom>
          <a:noFill/>
          <a:ln w="1524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88536"/>
            <a:ext cx="1828800" cy="0"/>
          </a:xfrm>
          <a:prstGeom prst="line">
            <a:avLst/>
          </a:prstGeom>
          <a:noFill/>
          <a:ln w="15240">
            <a:solidFill>
              <a:srgbClr val="C9A84C">
                <a:alpha val="5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443984"/>
            <a:ext cx="1828800" cy="0"/>
          </a:xfrm>
          <a:prstGeom prst="line">
            <a:avLst/>
          </a:prstGeom>
          <a:noFill/>
          <a:ln w="15240">
            <a:solidFill>
              <a:srgbClr val="C9A84C">
                <a:alpha val="41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599432"/>
            <a:ext cx="1828800" cy="0"/>
          </a:xfrm>
          <a:prstGeom prst="line">
            <a:avLst/>
          </a:prstGeom>
          <a:noFill/>
          <a:ln w="15240">
            <a:solidFill>
              <a:srgbClr val="C9A84C">
                <a:alpha val="29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54880"/>
            <a:ext cx="1828800" cy="0"/>
          </a:xfrm>
          <a:prstGeom prst="line">
            <a:avLst/>
          </a:prstGeom>
          <a:noFill/>
          <a:ln w="15240">
            <a:solidFill>
              <a:srgbClr val="C9A84C">
                <a:alpha val="1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005840"/>
            <a:ext cx="2194560" cy="2194560"/>
          </a:xfrm>
          <a:prstGeom prst="ellipse">
            <a:avLst/>
          </a:prstGeom>
          <a:solidFill>
            <a:srgbClr val="0D358D">
              <a:alpha val="70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554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5943600" y="33375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Sociology, Department of Law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Marwadi University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2026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87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267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907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547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987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627632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267712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267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822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⚙️</a:t>
            </a:r>
            <a:endParaRPr lang="en-US" sz="90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54864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8755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Overview:  </a:t>
            </a: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assistant that automates faculty workload tracking and time allocation using Excel, Power BI, and Copilot – reducing manual effort from days to minutes.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54864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5623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Problem:  </a:t>
            </a: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spend 60–70% of admin time on manual workload reporting. Institutions lack real-time visibility into course loads, event participation, and time distribution across departments.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715768"/>
            <a:ext cx="54864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72491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Stack:  </a:t>
            </a: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Microsoft Excel (data entry &amp; Power Query), Power BI (dashboards), and Microsoft Copilot (AI summaries) – a fully low-code, zero-IT-dependency solution.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584448"/>
            <a:ext cx="54864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5935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Impact:  </a:t>
            </a: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reduction in workload reporting time · Real-time dashboard visibility · Automated course &amp; event tracking · 100% audit-ready for NAAC / IQAC compliance.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0" y="914400"/>
            <a:ext cx="2011680" cy="2011680"/>
          </a:xfrm>
          <a:prstGeom prst="ellipse">
            <a:avLst/>
          </a:prstGeom>
          <a:solidFill>
            <a:srgbClr val="EAF4F4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3716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🎯</a:t>
            </a:r>
            <a:endParaRPr lang="en-US" sz="5600" dirty="0"/>
          </a:p>
        </p:txBody>
      </p:sp>
      <p:sp>
        <p:nvSpPr>
          <p:cNvPr id="16" name="Shape 14"/>
          <p:cNvSpPr/>
          <p:nvPr/>
        </p:nvSpPr>
        <p:spPr>
          <a:xfrm>
            <a:off x="6675120" y="3154680"/>
            <a:ext cx="2194560" cy="1508760"/>
          </a:xfrm>
          <a:prstGeom prst="rect">
            <a:avLst/>
          </a:prstGeom>
          <a:solidFill>
            <a:srgbClr val="EAF4F4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291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Marwadi University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2026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Issues Hindering Effective Academic Workload Management Include :-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16152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1615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Workload Tracking – Faculty spend 60–70% of admin hours on manual data entry for timetables, event logs, and course activity records each semester.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83664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– HoDs and Deans lack live dashboards showing faculty loads, making resource allocation decisions reactive rather than proactive.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51176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 Gaps – Institutions struggle to generate audit-ready workload evidence for NAAC / IQAC inspections without a consolidated tracking system.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18688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Fragmentation – Faculty data lives across disconnected spreadsheets, email threads, and paper registers with no unified view or automated consolidation.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86200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8620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Impact – Affects faculty members, HoDs, Registrar, IQAC committee, Deans and 200+ courses tracked per academic year across departments.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1005840"/>
            <a:ext cx="1783080" cy="1783080"/>
          </a:xfrm>
          <a:prstGeom prst="ellipse">
            <a:avLst/>
          </a:prstGeom>
          <a:solidFill>
            <a:srgbClr val="EAF4F4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3716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⚠️</a:t>
            </a:r>
            <a:endParaRPr lang="en-US" sz="52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of the 3-Layer Low-Code Pipeline Include :-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52728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61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243584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Structure  (Excel + Power Query)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4813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faculty workload data (teaching hours, events, courses) in structured Excel templates with Power Query for automatic consolidation and validation.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13969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488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1305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 (Microsoft Copilot / AI Assistant)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3682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generates automated workload summaries, flags overloaded faculty, and provides time-allocation recommendations from structured data.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02666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03580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01752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&amp; Decide  (Power BI Dashboard)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255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with faculty load KPIs, course activity charts, event tracker, and department drill-down — all traceable to source records.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48272" y="1005840"/>
            <a:ext cx="2075688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1051560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48272" y="160020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48272" y="19202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→ Minutes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48272" y="240487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48272" y="2724912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Admin Effort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48272" y="3209544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48272" y="352958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Visibility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48272" y="4014216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48272" y="4334256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0" y="384048"/>
            <a:ext cx="9144000" cy="457200"/>
          </a:xfrm>
          <a:prstGeom prst="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2062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0" y="420624"/>
            <a:ext cx="182880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420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AI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1920240" cy="3246120"/>
          </a:xfrm>
          <a:prstGeom prst="rect">
            <a:avLst/>
          </a:prstGeom>
          <a:solidFill>
            <a:srgbClr val="E8F4FD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60120"/>
            <a:ext cx="192024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978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Data Input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1344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Templates / Forms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1664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Workload data entry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19568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Teaching hours log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 records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9456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960120"/>
            <a:ext cx="1920240" cy="3246120"/>
          </a:xfrm>
          <a:prstGeom prst="rect">
            <a:avLst/>
          </a:prstGeom>
          <a:solidFill>
            <a:srgbClr val="EAF4F4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960120"/>
            <a:ext cx="192024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978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Processing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96312" y="1344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Power Query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96312" y="1664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entries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96312" y="19568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Consolidate sheets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9631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totals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1920240" cy="3246120"/>
          </a:xfrm>
          <a:prstGeom prst="rect">
            <a:avLst/>
          </a:prstGeom>
          <a:solidFill>
            <a:srgbClr val="F0FDF4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960120"/>
            <a:ext cx="192024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978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Analysis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45152" y="1344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45152" y="1664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Workload summaries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5152" y="19568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Overload alerts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4515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960120"/>
            <a:ext cx="1920240" cy="3246120"/>
          </a:xfrm>
          <a:prstGeom prst="rect">
            <a:avLst/>
          </a:prstGeom>
          <a:solidFill>
            <a:srgbClr val="FFF7ED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960120"/>
            <a:ext cx="192024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978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93992" y="1344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93992" y="1664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 KPI cards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93992" y="19568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Activity charts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9399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 drill-down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297680"/>
            <a:ext cx="8549640" cy="475488"/>
          </a:xfrm>
          <a:prstGeom prst="rect">
            <a:avLst/>
          </a:prstGeom>
          <a:solidFill>
            <a:srgbClr val="EAF4F4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334256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🗄  Storage: OneDrive / SharePoint — Secure, version-controlled, audit-ready    |    📄  Output: Per-faculty workload reports (Excel + PDF)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list of some demo screenshots / features of the project: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" y="1216152"/>
            <a:ext cx="265176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 Repository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1627632"/>
            <a:ext cx="2651760" cy="3108960"/>
          </a:xfrm>
          <a:prstGeom prst="rect">
            <a:avLst/>
          </a:prstGeom>
          <a:solidFill>
            <a:srgbClr val="EAF4F4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 files, Excel datasets, Power Query templates, Copilot prompts and presentation hosted here.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286000"/>
            <a:ext cx="24688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>
            <a:hlinkClick r:id="rId3"/>
          </p:cNvPr>
          <p:cNvSpPr/>
          <p:nvPr/>
        </p:nvSpPr>
        <p:spPr>
          <a:xfrm>
            <a:off x="402336" y="23042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FFFFF"/>
                </a:solidFill>
                <a:latin typeface="Calibri" pitchFamily="34" charset="0"/>
              </a:rPr>
              <a:t>github.com/byashika044-cell/AICW-FELLOWSHIP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95528" y="2743200"/>
            <a:ext cx="1645920" cy="1645920"/>
          </a:xfrm>
          <a:prstGeom prst="rect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</a:t>
            </a:r>
            <a:r>
              <a:rPr lang="en-US" sz="8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GitHb</a:t>
            </a: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QR 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63824" y="1216152"/>
            <a:ext cx="265176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Video Presentation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1627632"/>
            <a:ext cx="2651760" cy="3108960"/>
          </a:xfrm>
          <a:prstGeom prst="rect">
            <a:avLst/>
          </a:prstGeom>
          <a:solidFill>
            <a:srgbClr val="EAF4F4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walkthrough: Excel data entry → Power Query processing → Copilot analysis → Power BI dashboard.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55264" y="2286000"/>
            <a:ext cx="24688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23042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[Video link to be added]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66744" y="2788920"/>
            <a:ext cx="1645920" cy="1600200"/>
          </a:xfrm>
          <a:prstGeom prst="rect">
            <a:avLst/>
          </a:prstGeom>
          <a:solidFill>
            <a:srgbClr val="1F293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6035040" y="1216152"/>
            <a:ext cx="265176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Screenshots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1627632"/>
            <a:ext cx="2651760" cy="3108960"/>
          </a:xfrm>
          <a:prstGeom prst="rect">
            <a:avLst/>
          </a:prstGeom>
          <a:solidFill>
            <a:srgbClr val="EAF4F4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dashboard, structured Excel workbook and Copilot-generated faculty workload summary report.</a:t>
            </a:r>
            <a:endParaRPr lang="en-US" sz="950" dirty="0"/>
          </a:p>
        </p:txBody>
      </p:sp>
      <p:pic>
        <p:nvPicPr>
          <p:cNvPr id="27" name="Image 0" descr="/home/claude/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286000"/>
            <a:ext cx="2468880" cy="21031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 Demo</a:t>
            </a:r>
            <a:endParaRPr lang="en-US" sz="2000" dirty="0"/>
          </a:p>
        </p:txBody>
      </p:sp>
      <p:pic>
        <p:nvPicPr>
          <p:cNvPr id="6" name="Image 0" descr="/home/claude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02920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371600"/>
            <a:ext cx="3108960" cy="2194560"/>
          </a:xfrm>
          <a:prstGeom prst="rect">
            <a:avLst/>
          </a:prstGeom>
          <a:solidFill>
            <a:srgbClr val="1F2937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15544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669280" y="2834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Walkthrough: Excel entry →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→ Copilot insights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Power BI dashboard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3520440"/>
            <a:ext cx="3108960" cy="292608"/>
          </a:xfrm>
          <a:prstGeom prst="rect">
            <a:avLst/>
          </a:prstGeom>
          <a:solidFill>
            <a:srgbClr val="0D358D"/>
          </a:solidFill>
          <a:ln w="12700">
            <a:solidFill>
              <a:srgbClr val="0D358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6035040" y="35063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0" y="3913632"/>
            <a:ext cx="3108960" cy="3291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0AEB45-C2B9-ACD9-E135-A950EDD06900}"/>
              </a:ext>
            </a:extLst>
          </p:cNvPr>
          <p:cNvSpPr txBox="1"/>
          <p:nvPr/>
        </p:nvSpPr>
        <p:spPr>
          <a:xfrm>
            <a:off x="5750170" y="3961254"/>
            <a:ext cx="45790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github.com/byashika044-cell/AICW-FELLOWSHIP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Dashboard — Key Features</a:t>
            </a:r>
            <a:endParaRPr lang="en-US" sz="2000" dirty="0"/>
          </a:p>
        </p:txBody>
      </p:sp>
      <p:pic>
        <p:nvPicPr>
          <p:cNvPr id="6" name="Image 0" descr="/home/claude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530352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005840"/>
            <a:ext cx="3017520" cy="749808"/>
          </a:xfrm>
          <a:prstGeom prst="rect">
            <a:avLst/>
          </a:prstGeom>
          <a:solidFill>
            <a:srgbClr val="EAF4F4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25312" y="10789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Load KPI Cards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time saved · 100% traceable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06440" y="1920240"/>
            <a:ext cx="3017520" cy="749808"/>
          </a:xfrm>
          <a:prstGeom prst="rect">
            <a:avLst/>
          </a:prstGeom>
          <a:solidFill>
            <a:srgbClr val="E8F4FD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25312" y="19933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Workload Index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/ Admin / Events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2834640"/>
            <a:ext cx="3017520" cy="749808"/>
          </a:xfrm>
          <a:prstGeom prst="rect">
            <a:avLst/>
          </a:prstGeom>
          <a:solidFill>
            <a:srgbClr val="EAF4F4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5312" y="29077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Course-Level Summary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active courses tracked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06440" y="3749040"/>
            <a:ext cx="3017520" cy="749808"/>
          </a:xfrm>
          <a:prstGeom prst="rect">
            <a:avLst/>
          </a:prstGeom>
          <a:solidFill>
            <a:srgbClr val="E8F4FD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5312" y="38221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Semester Trend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2025–26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 &amp; Workbook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621792"/>
          </a:xfrm>
          <a:prstGeom prst="rect">
            <a:avLst/>
          </a:prstGeom>
          <a:solidFill>
            <a:srgbClr val="EAF4F4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synthetic records  ·  12 departments  ·  30 faculty members  ·  2 semesters (Autumn 2025 &amp; Spring 2026)  ·  Realistic workload and activity data included.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64208"/>
          <a:ext cx="8503920" cy="27980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workload record identifier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Autumn 2025 / Spring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De-identified code (F-001 … F-030)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teaching_hours / admin_hours / event_hours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hours per 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course_activity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Courses taught + activities logged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workload_score (derived)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/ Moderate / Low — Copilot computed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–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overload_flag (derived)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 — auto-flagged if above threshold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–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avg_weekly_hours (derived)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teaching + admin + event hours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– Excel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Faculty Workload &amp; Time Allocation Assistant delivers real-time, audit-ready academic records management at scale. All AICW Fellowship objectives have been met.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591056"/>
            <a:ext cx="1920240" cy="1234440"/>
          </a:xfrm>
          <a:prstGeom prst="rect">
            <a:avLst/>
          </a:prstGeom>
          <a:solidFill>
            <a:srgbClr val="EAF4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91056"/>
            <a:ext cx="192024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→ Minutes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920240" cy="1234440"/>
          </a:xfrm>
          <a:prstGeom prst="rect">
            <a:avLst/>
          </a:prstGeom>
          <a:solidFill>
            <a:srgbClr val="EAF4F4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591056"/>
            <a:ext cx="192024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1460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Effort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591056"/>
            <a:ext cx="1920240" cy="1234440"/>
          </a:xfrm>
          <a:prstGeom prst="rect">
            <a:avLst/>
          </a:prstGeom>
          <a:solidFill>
            <a:srgbClr val="EAF4F4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591056"/>
            <a:ext cx="192024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6344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591056"/>
            <a:ext cx="1920240" cy="1234440"/>
          </a:xfrm>
          <a:prstGeom prst="rect">
            <a:avLst/>
          </a:prstGeom>
          <a:solidFill>
            <a:srgbClr val="EAF4F4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591056"/>
            <a:ext cx="1920240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1228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99232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9809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admin capacity can be redirected to teaching quality, faculty development and curriculum innovation.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4564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workload visibility enables proactive resource allocation and scheduling decisions.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950208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931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 / IQAC evidence is auto-generated as a by-product, not a separate audit project.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10058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54864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 (3–6 months)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LMS / ERP API integration for zero-touch workload data import.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Mobile-friendly data entry app for faculty to log hours on the go.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249424"/>
            <a:ext cx="54864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67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 (6–12 months)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overload model flagging faculty burnout risk mid-semester.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Auto-generated NAAC / IQAC workload evidence pack per accreditation cycle.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511296"/>
            <a:ext cx="54864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295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 (1 year+)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8221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Institution-wide rollout with role-based Power BI workspaces for HoDs, Deans and IQAC.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16966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Benchmarking layer to compare departmental loads anonymously across the university.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🧠</a:t>
            </a:r>
            <a:endParaRPr lang="en-US" sz="8000" dirty="0"/>
          </a:p>
        </p:txBody>
      </p:sp>
      <p:sp>
        <p:nvSpPr>
          <p:cNvPr id="19" name="Shape 17"/>
          <p:cNvSpPr/>
          <p:nvPr/>
        </p:nvSpPr>
        <p:spPr>
          <a:xfrm>
            <a:off x="6675120" y="3017520"/>
            <a:ext cx="2194560" cy="548640"/>
          </a:xfrm>
          <a:prstGeom prst="rect">
            <a:avLst/>
          </a:prstGeom>
          <a:solidFill>
            <a:srgbClr val="EAF4F4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0723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prototype → institution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24688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Faculty Project Presentation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066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|  Edunet Foundation  | 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31638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43434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📢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1150</Words>
  <Application>Microsoft Office PowerPoint</Application>
  <PresentationFormat>On-screen Show (16:9)</PresentationFormat>
  <Paragraphs>228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EchoLens – AI-Powered Faculty Feedback Intelligence</dc:title>
  <dc:subject>PptxGenJS Presentation</dc:subject>
  <dc:creator>PptxGenJS</dc:creator>
  <cp:lastModifiedBy>Yashika B</cp:lastModifiedBy>
  <cp:revision>3</cp:revision>
  <dcterms:created xsi:type="dcterms:W3CDTF">2026-05-03T11:36:17Z</dcterms:created>
  <dcterms:modified xsi:type="dcterms:W3CDTF">2026-05-04T10:39:01Z</dcterms:modified>
</cp:coreProperties>
</file>